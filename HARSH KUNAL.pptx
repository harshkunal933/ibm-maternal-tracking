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3"/>
  </p:notesMasterIdLst>
  <p:sldIdLst>
    <p:sldId id="256" r:id="rId5"/>
    <p:sldId id="2146847054" r:id="rId6"/>
    <p:sldId id="262" r:id="rId7"/>
    <p:sldId id="263" r:id="rId8"/>
    <p:sldId id="265" r:id="rId9"/>
    <p:sldId id="266" r:id="rId10"/>
    <p:sldId id="267" r:id="rId11"/>
    <p:sldId id="2146847056" r:id="rId12"/>
    <p:sldId id="2146847057" r:id="rId13"/>
    <p:sldId id="2146847058" r:id="rId14"/>
    <p:sldId id="2146847061" r:id="rId15"/>
    <p:sldId id="2146847059" r:id="rId16"/>
    <p:sldId id="2146847062" r:id="rId17"/>
    <p:sldId id="268" r:id="rId18"/>
    <p:sldId id="2146847060" r:id="rId19"/>
    <p:sldId id="2146847055" r:id="rId20"/>
    <p:sldId id="269"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7868" autoAdjust="0"/>
  </p:normalViewPr>
  <p:slideViewPr>
    <p:cSldViewPr snapToGrid="0">
      <p:cViewPr varScale="1">
        <p:scale>
          <a:sx n="82" d="100"/>
          <a:sy n="82" d="100"/>
        </p:scale>
        <p:origin x="691"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p:txBody>
          <a:bodyPr/>
          <a:lstStyle/>
          <a:p>
            <a:r>
              <a:rPr lang="en-US" dirty="0"/>
              <a:t>Improved SOURCE OF DRINKING WATER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916196" y="3502631"/>
            <a:ext cx="9607871" cy="2062103"/>
          </a:xfrm>
          <a:prstGeom prst="rect">
            <a:avLst/>
          </a:prstGeom>
          <a:noFill/>
        </p:spPr>
        <p:txBody>
          <a:bodyPr wrap="square" lIns="91440" tIns="45720" rIns="91440" bIns="45720" rtlCol="0" anchor="t">
            <a:spAutoFit/>
          </a:bodyPr>
          <a:lstStyle/>
          <a:p>
            <a:r>
              <a:rPr lang="en-US" sz="3200" b="1" dirty="0">
                <a:solidFill>
                  <a:schemeClr val="accent1">
                    <a:lumMod val="75000"/>
                  </a:schemeClr>
                </a:solidFill>
                <a:latin typeface="Arial" pitchFamily="34" charset="0"/>
                <a:cs typeface="Arial" pitchFamily="34" charset="0"/>
              </a:rPr>
              <a:t>Presented By:</a:t>
            </a:r>
          </a:p>
          <a:p>
            <a:r>
              <a:rPr lang="en-US" sz="3200" b="1" dirty="0">
                <a:solidFill>
                  <a:schemeClr val="accent1">
                    <a:lumMod val="75000"/>
                  </a:schemeClr>
                </a:solidFill>
                <a:latin typeface="Arial"/>
                <a:cs typeface="Arial"/>
              </a:rPr>
              <a:t>Student Name-Harsh Kunal</a:t>
            </a:r>
          </a:p>
          <a:p>
            <a:pPr marL="514350" indent="-514350"/>
            <a:r>
              <a:rPr lang="en-US" sz="3200" b="1" dirty="0">
                <a:solidFill>
                  <a:schemeClr val="accent1">
                    <a:lumMod val="75000"/>
                  </a:schemeClr>
                </a:solidFill>
                <a:latin typeface="Arial"/>
                <a:cs typeface="Arial"/>
              </a:rPr>
              <a:t>College Name-Haridwar University</a:t>
            </a:r>
          </a:p>
          <a:p>
            <a:pPr marL="514350" indent="-514350"/>
            <a:r>
              <a:rPr lang="en-US" sz="3200" b="1" dirty="0">
                <a:solidFill>
                  <a:schemeClr val="accent1">
                    <a:lumMod val="75000"/>
                  </a:schemeClr>
                </a:solidFill>
                <a:latin typeface="Arial"/>
                <a:cs typeface="Arial"/>
              </a:rPr>
              <a:t>Department-Cse-Ai-</a:t>
            </a:r>
            <a:r>
              <a:rPr lang="en-US" sz="3200" b="1" dirty="0" err="1">
                <a:solidFill>
                  <a:schemeClr val="accent1">
                    <a:lumMod val="75000"/>
                  </a:schemeClr>
                </a:solidFill>
                <a:latin typeface="Arial"/>
                <a:cs typeface="Arial"/>
              </a:rPr>
              <a:t>Ml</a:t>
            </a:r>
            <a:endParaRPr lang="en-US" sz="32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06683" y="1176672"/>
            <a:ext cx="11029615" cy="4673324"/>
          </a:xfrm>
        </p:spPr>
        <p:txBody>
          <a:bodyPr>
            <a:normAutofit/>
          </a:bodyPr>
          <a:lstStyle/>
          <a:p>
            <a:pPr marL="305435" indent="-305435"/>
            <a:r>
              <a:rPr lang="en-GB" sz="2000" dirty="0"/>
              <a:t>Maternal health remains a critical public health challenge in India, particularly in rural and underserved regions. Despite national programs and Sustainable Development Goals (SDGs), disparities persist in maternal mortality rates, antenatal care coverage, and institutional deliveries. This project aims to </a:t>
            </a:r>
            <a:r>
              <a:rPr lang="en-GB" sz="2000" dirty="0" err="1"/>
              <a:t>analyze</a:t>
            </a:r>
            <a:r>
              <a:rPr lang="en-GB" sz="2000" dirty="0"/>
              <a:t> data from the National Family Health Survey (NFHS-5) and related sources to assess maternal health indicators such as antenatal care visits, skilled birth attendance, and postnatal care. By identifying regional and socio-economic disparities, the study will generate actionable insights to support evidence-based policymaking. The ultimate goal is to ensure equitable maternal health services and contribute to India’s progress on SDG 3 (Good Health and Well-being).</a:t>
            </a:r>
            <a:endParaRPr lang="en-IN" sz="20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59272" y="656436"/>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4" name="Content Placeholder 3"/>
          <p:cNvSpPr>
            <a:spLocks noGrp="1"/>
          </p:cNvSpPr>
          <p:nvPr>
            <p:ph idx="1"/>
          </p:nvPr>
        </p:nvSpPr>
        <p:spPr/>
        <p:txBody>
          <a:bodyPr>
            <a:normAutofit/>
          </a:bodyPr>
          <a:lstStyle/>
          <a:p>
            <a:r>
              <a:rPr lang="en-GB" b="1" dirty="0"/>
              <a:t>Proposed Solution: Tracking Maternal Health Progress in India</a:t>
            </a:r>
          </a:p>
          <a:p>
            <a:r>
              <a:rPr lang="en-GB" b="1" dirty="0"/>
              <a:t>Strengthen Healthcare Infrastructure</a:t>
            </a:r>
          </a:p>
          <a:p>
            <a:pPr lvl="1"/>
            <a:r>
              <a:rPr lang="en-GB" b="1" dirty="0"/>
              <a:t>Build and maintain maternal health </a:t>
            </a:r>
            <a:r>
              <a:rPr lang="en-GB" b="1" dirty="0" err="1"/>
              <a:t>centers</a:t>
            </a:r>
            <a:r>
              <a:rPr lang="en-GB" b="1" dirty="0"/>
              <a:t> in rural and underdeveloped areas.</a:t>
            </a:r>
          </a:p>
          <a:p>
            <a:pPr lvl="1"/>
            <a:r>
              <a:rPr lang="en-GB" b="1" dirty="0"/>
              <a:t>Upgrade existing hospitals, delivery wards, and emergency obstetric care facilities.</a:t>
            </a:r>
          </a:p>
          <a:p>
            <a:r>
              <a:rPr lang="en-GB" b="1" dirty="0"/>
              <a:t>Promote Preventive &amp; Holistic Care</a:t>
            </a:r>
          </a:p>
          <a:p>
            <a:pPr lvl="1"/>
            <a:r>
              <a:rPr lang="en-GB" b="1" dirty="0"/>
              <a:t>Encourage regular antenatal check-ups, nutritional support, and vaccination programs.</a:t>
            </a:r>
          </a:p>
          <a:p>
            <a:pPr lvl="1"/>
            <a:r>
              <a:rPr lang="en-GB" b="1" dirty="0"/>
              <a:t>Ensure continuous monitoring of maternal health indicators to prevent complications.</a:t>
            </a:r>
          </a:p>
          <a:p>
            <a:r>
              <a:rPr lang="en-GB" b="1" dirty="0"/>
              <a:t>Community Engagement &amp; Awareness</a:t>
            </a:r>
          </a:p>
          <a:p>
            <a:pPr lvl="1"/>
            <a:r>
              <a:rPr lang="en-GB" b="1" dirty="0"/>
              <a:t>Conduct awareness campaigns about safe pregnancy practices and institutional deliveries.</a:t>
            </a:r>
          </a:p>
          <a:p>
            <a:pPr lvl="1"/>
            <a:r>
              <a:rPr lang="en-GB" b="1" dirty="0"/>
              <a:t>Train local health workers (ASHA, ANMs) to monitor and support maternal health.</a:t>
            </a:r>
          </a:p>
          <a:p>
            <a:pPr lvl="1"/>
            <a:endParaRPr lang="en-GB" b="1" dirty="0"/>
          </a:p>
        </p:txBody>
      </p:sp>
      <p:sp>
        <p:nvSpPr>
          <p:cNvPr id="2" name="Rectangle 1">
            <a:extLst>
              <a:ext uri="{FF2B5EF4-FFF2-40B4-BE49-F238E27FC236}">
                <a16:creationId xmlns:a16="http://schemas.microsoft.com/office/drawing/2014/main" id="{7AE33551-1AD2-D9CA-1C0C-8534C2AEA75C}"/>
              </a:ext>
            </a:extLst>
          </p:cNvPr>
          <p:cNvSpPr>
            <a:spLocks noChangeArrowheads="1"/>
          </p:cNvSpPr>
          <p:nvPr/>
        </p:nvSpPr>
        <p:spPr bwMode="auto">
          <a:xfrm>
            <a:off x="0" y="-323166"/>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fontScale="85000" lnSpcReduction="20000"/>
          </a:bodyPr>
          <a:lstStyle/>
          <a:p>
            <a:r>
              <a:rPr lang="en-IN" b="1" dirty="0"/>
              <a:t>System Requirements</a:t>
            </a:r>
          </a:p>
          <a:p>
            <a:r>
              <a:rPr lang="en-IN" b="1" dirty="0"/>
              <a:t>IBM Watson Studio Lite (cloud platform)</a:t>
            </a:r>
          </a:p>
          <a:p>
            <a:r>
              <a:rPr lang="en-IN" b="1" dirty="0"/>
              <a:t>Laptop/Desktop with internet access</a:t>
            </a:r>
          </a:p>
          <a:p>
            <a:r>
              <a:rPr lang="en-IN" b="1" dirty="0"/>
              <a:t>NFHS-5 dataset (CSV)</a:t>
            </a:r>
          </a:p>
          <a:p>
            <a:r>
              <a:rPr lang="en-IN" b="1" dirty="0"/>
              <a:t>Libraries Required</a:t>
            </a:r>
          </a:p>
          <a:p>
            <a:r>
              <a:rPr lang="en-IN" b="1" dirty="0"/>
              <a:t>pandas – data manipulation</a:t>
            </a:r>
          </a:p>
          <a:p>
            <a:r>
              <a:rPr lang="en-IN" b="1" dirty="0" err="1"/>
              <a:t>numpy</a:t>
            </a:r>
            <a:r>
              <a:rPr lang="en-IN" b="1" dirty="0"/>
              <a:t> – numerical computations</a:t>
            </a:r>
          </a:p>
          <a:p>
            <a:r>
              <a:rPr lang="en-IN" b="1" dirty="0"/>
              <a:t>matplotlib &amp; seaborn – data visualization</a:t>
            </a:r>
          </a:p>
          <a:p>
            <a:r>
              <a:rPr lang="en-IN" b="1" dirty="0"/>
              <a:t>Optional: </a:t>
            </a:r>
            <a:r>
              <a:rPr lang="en-IN" b="1" dirty="0" err="1"/>
              <a:t>plotly</a:t>
            </a:r>
            <a:r>
              <a:rPr lang="en-IN" b="1" dirty="0"/>
              <a:t>, folium – interactive maps and plots</a:t>
            </a:r>
          </a:p>
          <a:p>
            <a:r>
              <a:rPr lang="en-IN" b="1" dirty="0"/>
              <a:t>Methodology</a:t>
            </a:r>
          </a:p>
          <a:p>
            <a:r>
              <a:rPr lang="en-IN" b="1" dirty="0"/>
              <a:t>Upload and clean maternal health data using Data Refinery.</a:t>
            </a:r>
          </a:p>
          <a:p>
            <a:r>
              <a:rPr lang="en-IN" b="1" dirty="0" err="1"/>
              <a:t>Analyze</a:t>
            </a:r>
            <a:r>
              <a:rPr lang="en-IN" b="1" dirty="0"/>
              <a:t> key indicators: antenatal care coverage, institutional deliveries, maternal mortality.</a:t>
            </a:r>
          </a:p>
          <a:p>
            <a:r>
              <a:rPr lang="en-IN" b="1" dirty="0"/>
              <a:t>Visualize trends and correlations (education, socio-economic status, rural vs urban).</a:t>
            </a:r>
          </a:p>
          <a:p>
            <a:r>
              <a:rPr lang="en-IN" b="1" dirty="0"/>
              <a:t>Generate insights to guide policy and improve maternal health outcomes.</a:t>
            </a:r>
          </a:p>
          <a:p>
            <a:pPr marL="0" indent="0">
              <a:buNone/>
            </a:pPr>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55792" y="1234292"/>
            <a:ext cx="11029615" cy="4673324"/>
          </a:xfrm>
        </p:spPr>
        <p:txBody>
          <a:bodyPr>
            <a:normAutofit fontScale="92500" lnSpcReduction="10000"/>
          </a:bodyPr>
          <a:lstStyle/>
          <a:p>
            <a:r>
              <a:rPr lang="en-IN" b="1" dirty="0"/>
              <a:t>Algorithm Selection</a:t>
            </a:r>
          </a:p>
          <a:p>
            <a:r>
              <a:rPr lang="en-IN" b="1" dirty="0"/>
              <a:t>Use supervised machine learning algorithms such as Random Forest Classifier or Gradient Boosting to predict maternal health outcomes (e.g., likelihood of institutional delivery).</a:t>
            </a:r>
          </a:p>
          <a:p>
            <a:r>
              <a:rPr lang="en-IN" b="1" dirty="0"/>
              <a:t>These algorithms handle structured survey data well, capture complex relationships, and provide interpretable results for policy decisions.</a:t>
            </a:r>
          </a:p>
          <a:p>
            <a:r>
              <a:rPr lang="en-IN" b="1" dirty="0"/>
              <a:t>Data Input</a:t>
            </a:r>
          </a:p>
          <a:p>
            <a:r>
              <a:rPr lang="en-IN" b="1" dirty="0"/>
              <a:t>Input features include state/region identifiers, rural/urban classification, socio-economic indicators, education level, antenatal visits, and healthcare access.</a:t>
            </a:r>
          </a:p>
          <a:p>
            <a:r>
              <a:rPr lang="en-IN" b="1" dirty="0"/>
              <a:t>Training Process</a:t>
            </a:r>
          </a:p>
          <a:p>
            <a:r>
              <a:rPr lang="en-IN" b="1" dirty="0"/>
              <a:t>Split dataset into training and validation sets.</a:t>
            </a:r>
          </a:p>
          <a:p>
            <a:r>
              <a:rPr lang="en-IN" b="1" dirty="0"/>
              <a:t>Preprocess data: handle missing values, encode categorical variables, and scale features.</a:t>
            </a:r>
          </a:p>
          <a:p>
            <a:r>
              <a:rPr lang="en-IN" b="1" dirty="0"/>
              <a:t>Train model using cross-validation and hyperparameter tuning.</a:t>
            </a:r>
          </a:p>
          <a:p>
            <a:r>
              <a:rPr lang="en-IN" b="1" dirty="0"/>
              <a:t>Prediction Process</a:t>
            </a:r>
          </a:p>
          <a:p>
            <a:pPr marL="305435" indent="-305435"/>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21926" y="659823"/>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324185" y="1496759"/>
            <a:ext cx="11029615" cy="4673324"/>
          </a:xfrm>
        </p:spPr>
        <p:txBody>
          <a:bodyPr>
            <a:normAutofit/>
          </a:bodyPr>
          <a:lstStyle/>
          <a:p>
            <a:pPr marL="0" indent="0">
              <a:buNone/>
            </a:pPr>
            <a:r>
              <a:rPr lang="en-IN" sz="2400" dirty="0">
                <a:solidFill>
                  <a:srgbClr val="0F0F0F"/>
                </a:solidFill>
                <a:ea typeface="+mn-lt"/>
                <a:cs typeface="+mn-lt"/>
              </a:rPr>
              <a:t>.</a:t>
            </a:r>
            <a:endParaRPr lang="en-IN" sz="2400" dirty="0"/>
          </a:p>
        </p:txBody>
      </p:sp>
      <p:pic>
        <p:nvPicPr>
          <p:cNvPr id="7" name="Picture 6">
            <a:extLst>
              <a:ext uri="{FF2B5EF4-FFF2-40B4-BE49-F238E27FC236}">
                <a16:creationId xmlns:a16="http://schemas.microsoft.com/office/drawing/2014/main" id="{F6C9A557-BA42-6B80-F28F-534F6D9DBBE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241" y="1262199"/>
            <a:ext cx="10795517" cy="5142444"/>
          </a:xfrm>
          <a:prstGeom prst="rect">
            <a:avLst/>
          </a:prstGeom>
          <a:noFill/>
          <a:ln>
            <a:noFill/>
          </a:ln>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8067" y="651932"/>
            <a:ext cx="3852333" cy="707886"/>
          </a:xfrm>
          <a:prstGeom prst="rect">
            <a:avLst/>
          </a:prstGeom>
          <a:noFill/>
        </p:spPr>
        <p:txBody>
          <a:bodyPr wrap="square" rtlCol="0">
            <a:spAutoFit/>
          </a:bodyPr>
          <a:lstStyle/>
          <a:p>
            <a:r>
              <a:rPr lang="en-US" sz="4000" b="1" dirty="0">
                <a:solidFill>
                  <a:schemeClr val="accent1"/>
                </a:solidFill>
                <a:latin typeface="Arial"/>
                <a:ea typeface="+mj-lt"/>
                <a:cs typeface="Arial"/>
              </a:rPr>
              <a:t>RESULT</a:t>
            </a:r>
            <a:endParaRPr lang="en-US" sz="4000" dirty="0"/>
          </a:p>
        </p:txBody>
      </p:sp>
      <p:pic>
        <p:nvPicPr>
          <p:cNvPr id="2" name="Picture 1">
            <a:extLst>
              <a:ext uri="{FF2B5EF4-FFF2-40B4-BE49-F238E27FC236}">
                <a16:creationId xmlns:a16="http://schemas.microsoft.com/office/drawing/2014/main" id="{A65F558B-949C-7F68-74AD-FBEBCF89E8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1094" y="1492902"/>
            <a:ext cx="10422294" cy="48332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2963" y="704335"/>
            <a:ext cx="1997085" cy="646331"/>
          </a:xfrm>
          <a:prstGeom prst="rect">
            <a:avLst/>
          </a:prstGeom>
        </p:spPr>
        <p:txBody>
          <a:bodyPr wrap="none">
            <a:spAutoFit/>
          </a:bodyPr>
          <a:lstStyle/>
          <a:p>
            <a:r>
              <a:rPr lang="en-US" sz="3600" b="1" dirty="0">
                <a:solidFill>
                  <a:schemeClr val="accent1"/>
                </a:solidFill>
                <a:latin typeface="Arial"/>
                <a:ea typeface="+mj-lt"/>
                <a:cs typeface="Arial"/>
              </a:rPr>
              <a:t>RESULT</a:t>
            </a:r>
            <a:endParaRPr lang="en-US" sz="3600" dirty="0"/>
          </a:p>
        </p:txBody>
      </p:sp>
      <p:pic>
        <p:nvPicPr>
          <p:cNvPr id="5" name="Picture 4">
            <a:extLst>
              <a:ext uri="{FF2B5EF4-FFF2-40B4-BE49-F238E27FC236}">
                <a16:creationId xmlns:a16="http://schemas.microsoft.com/office/drawing/2014/main" id="{C9A1E01F-CDE4-A302-C69E-62B6D0D9FA7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6408" y="1567543"/>
            <a:ext cx="10328987" cy="45160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2667" y="702733"/>
            <a:ext cx="4639733" cy="584775"/>
          </a:xfrm>
          <a:prstGeom prst="rect">
            <a:avLst/>
          </a:prstGeom>
          <a:noFill/>
        </p:spPr>
        <p:txBody>
          <a:bodyPr wrap="square" rtlCol="0">
            <a:spAutoFit/>
          </a:bodyPr>
          <a:lstStyle/>
          <a:p>
            <a:r>
              <a:rPr lang="en-US" sz="3200" b="1" dirty="0">
                <a:solidFill>
                  <a:schemeClr val="accent1"/>
                </a:solidFill>
                <a:latin typeface="Arial"/>
                <a:ea typeface="+mj-lt"/>
                <a:cs typeface="Arial"/>
              </a:rPr>
              <a:t>CERTIFICATES</a:t>
            </a:r>
            <a:endParaRPr lang="en-US" sz="3200" dirty="0"/>
          </a:p>
        </p:txBody>
      </p:sp>
      <p:pic>
        <p:nvPicPr>
          <p:cNvPr id="9" name="Picture 8">
            <a:extLst>
              <a:ext uri="{FF2B5EF4-FFF2-40B4-BE49-F238E27FC236}">
                <a16:creationId xmlns:a16="http://schemas.microsoft.com/office/drawing/2014/main" id="{87EFCA49-C58F-BD26-21D7-BA6EC68E6AFD}"/>
              </a:ext>
            </a:extLst>
          </p:cNvPr>
          <p:cNvPicPr>
            <a:picLocks noChangeAspect="1"/>
          </p:cNvPicPr>
          <p:nvPr/>
        </p:nvPicPr>
        <p:blipFill>
          <a:blip r:embed="rId2"/>
          <a:stretch>
            <a:fillRect/>
          </a:stretch>
        </p:blipFill>
        <p:spPr>
          <a:xfrm>
            <a:off x="2202024" y="1427584"/>
            <a:ext cx="8089641" cy="47276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4DC176-16A5-8201-CAAF-F96B21318317}"/>
              </a:ext>
            </a:extLst>
          </p:cNvPr>
          <p:cNvSpPr txBox="1"/>
          <p:nvPr/>
        </p:nvSpPr>
        <p:spPr>
          <a:xfrm>
            <a:off x="592667" y="702733"/>
            <a:ext cx="4639733" cy="584775"/>
          </a:xfrm>
          <a:prstGeom prst="rect">
            <a:avLst/>
          </a:prstGeom>
          <a:noFill/>
        </p:spPr>
        <p:txBody>
          <a:bodyPr wrap="square" rtlCol="0">
            <a:spAutoFit/>
          </a:bodyPr>
          <a:lstStyle/>
          <a:p>
            <a:r>
              <a:rPr lang="en-US" sz="3200" b="1" dirty="0">
                <a:solidFill>
                  <a:schemeClr val="accent1"/>
                </a:solidFill>
                <a:latin typeface="Arial"/>
                <a:ea typeface="+mj-lt"/>
                <a:cs typeface="Arial"/>
              </a:rPr>
              <a:t>CERTIFICATES</a:t>
            </a:r>
            <a:endParaRPr lang="en-US" sz="3200" dirty="0"/>
          </a:p>
        </p:txBody>
      </p:sp>
      <p:pic>
        <p:nvPicPr>
          <p:cNvPr id="4" name="Picture 3">
            <a:extLst>
              <a:ext uri="{FF2B5EF4-FFF2-40B4-BE49-F238E27FC236}">
                <a16:creationId xmlns:a16="http://schemas.microsoft.com/office/drawing/2014/main" id="{B6C36BD7-4615-C244-35D3-6E71F64C880A}"/>
              </a:ext>
            </a:extLst>
          </p:cNvPr>
          <p:cNvPicPr>
            <a:picLocks noChangeAspect="1"/>
          </p:cNvPicPr>
          <p:nvPr/>
        </p:nvPicPr>
        <p:blipFill>
          <a:blip r:embed="rId2"/>
          <a:stretch>
            <a:fillRect/>
          </a:stretch>
        </p:blipFill>
        <p:spPr>
          <a:xfrm>
            <a:off x="2440788" y="1492897"/>
            <a:ext cx="7310423" cy="4587725"/>
          </a:xfrm>
          <a:prstGeom prst="rect">
            <a:avLst/>
          </a:prstGeom>
        </p:spPr>
      </p:pic>
    </p:spTree>
    <p:extLst>
      <p:ext uri="{BB962C8B-B14F-4D97-AF65-F5344CB8AC3E}">
        <p14:creationId xmlns:p14="http://schemas.microsoft.com/office/powerpoint/2010/main" val="544546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6466" y="635000"/>
            <a:ext cx="4792133" cy="1200329"/>
          </a:xfrm>
          <a:prstGeom prst="rect">
            <a:avLst/>
          </a:prstGeom>
          <a:noFill/>
        </p:spPr>
        <p:txBody>
          <a:bodyPr wrap="square" rtlCol="0">
            <a:spAutoFit/>
          </a:bodyPr>
          <a:lstStyle/>
          <a:p>
            <a:r>
              <a:rPr lang="en-US" sz="3600" b="1" dirty="0">
                <a:solidFill>
                  <a:schemeClr val="accent1"/>
                </a:solidFill>
                <a:latin typeface="Arial"/>
                <a:ea typeface="+mj-lt"/>
                <a:cs typeface="Arial"/>
              </a:rPr>
              <a:t>CERTIFICATES</a:t>
            </a:r>
            <a:endParaRPr lang="en-US" sz="3600" dirty="0"/>
          </a:p>
          <a:p>
            <a:endParaRPr lang="en-US" sz="3600" dirty="0"/>
          </a:p>
        </p:txBody>
      </p:sp>
      <p:pic>
        <p:nvPicPr>
          <p:cNvPr id="5" name="Picture 4">
            <a:extLst>
              <a:ext uri="{FF2B5EF4-FFF2-40B4-BE49-F238E27FC236}">
                <a16:creationId xmlns:a16="http://schemas.microsoft.com/office/drawing/2014/main" id="{E2A993AD-A6BB-7C1F-8802-6016174D42D0}"/>
              </a:ext>
            </a:extLst>
          </p:cNvPr>
          <p:cNvPicPr>
            <a:picLocks noChangeAspect="1"/>
          </p:cNvPicPr>
          <p:nvPr/>
        </p:nvPicPr>
        <p:blipFill>
          <a:blip r:embed="rId2"/>
          <a:stretch>
            <a:fillRect/>
          </a:stretch>
        </p:blipFill>
        <p:spPr>
          <a:xfrm rot="5400000">
            <a:off x="3951515" y="-63450"/>
            <a:ext cx="4068147" cy="78657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6D8876-5C36-746C-389E-2819E538B102}"/>
              </a:ext>
            </a:extLst>
          </p:cNvPr>
          <p:cNvSpPr txBox="1"/>
          <p:nvPr/>
        </p:nvSpPr>
        <p:spPr>
          <a:xfrm>
            <a:off x="592667" y="702733"/>
            <a:ext cx="4639733" cy="584775"/>
          </a:xfrm>
          <a:prstGeom prst="rect">
            <a:avLst/>
          </a:prstGeom>
          <a:noFill/>
        </p:spPr>
        <p:txBody>
          <a:bodyPr wrap="square" rtlCol="0">
            <a:spAutoFit/>
          </a:bodyPr>
          <a:lstStyle/>
          <a:p>
            <a:r>
              <a:rPr lang="en-US" sz="3200" b="1" dirty="0">
                <a:solidFill>
                  <a:schemeClr val="accent1"/>
                </a:solidFill>
                <a:latin typeface="Arial"/>
                <a:ea typeface="+mj-lt"/>
                <a:cs typeface="Arial"/>
              </a:rPr>
              <a:t>CERTIFICATES</a:t>
            </a:r>
            <a:endParaRPr lang="en-US" sz="3200" dirty="0"/>
          </a:p>
        </p:txBody>
      </p:sp>
      <p:pic>
        <p:nvPicPr>
          <p:cNvPr id="5" name="Picture 4">
            <a:extLst>
              <a:ext uri="{FF2B5EF4-FFF2-40B4-BE49-F238E27FC236}">
                <a16:creationId xmlns:a16="http://schemas.microsoft.com/office/drawing/2014/main" id="{B4279B06-6E03-81E2-058D-1A656A893B90}"/>
              </a:ext>
            </a:extLst>
          </p:cNvPr>
          <p:cNvPicPr>
            <a:picLocks noChangeAspect="1"/>
          </p:cNvPicPr>
          <p:nvPr/>
        </p:nvPicPr>
        <p:blipFill>
          <a:blip r:embed="rId2"/>
          <a:stretch>
            <a:fillRect/>
          </a:stretch>
        </p:blipFill>
        <p:spPr>
          <a:xfrm rot="5400000">
            <a:off x="3858208" y="-88641"/>
            <a:ext cx="4198777" cy="7753741"/>
          </a:xfrm>
          <a:prstGeom prst="rect">
            <a:avLst/>
          </a:prstGeom>
        </p:spPr>
      </p:pic>
    </p:spTree>
    <p:extLst>
      <p:ext uri="{BB962C8B-B14F-4D97-AF65-F5344CB8AC3E}">
        <p14:creationId xmlns:p14="http://schemas.microsoft.com/office/powerpoint/2010/main" val="4171652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24933" y="711200"/>
            <a:ext cx="11128208" cy="639785"/>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GB" sz="2000" dirty="0"/>
              <a:t>Summarize the key findings and evaluate the effectiveness of the proposed solution in tracking maternal health progress. Highlight challenges faced during data collection, analysis, or implementation phases, as well as opportunities for future improvements. Emphasize the critical role of accurate and timely data analysis in ensuring equitable maternal health services, ultimately contributing to public health and progress toward Sustainable Development Goals.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chemeClr val="accent1"/>
                </a:solidFill>
                <a:latin typeface="Arial"/>
                <a:ea typeface="+mj-lt"/>
                <a:cs typeface="Arial"/>
              </a:rPr>
              <a:t>Github</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flipH="1">
            <a:off x="-830424" y="6087985"/>
            <a:ext cx="1394683" cy="667378"/>
          </a:xfrm>
        </p:spPr>
        <p:txBody>
          <a:bodyPr>
            <a:normAutofit/>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446512" y="770014"/>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6" name="Rectangle 3">
            <a:extLst>
              <a:ext uri="{FF2B5EF4-FFF2-40B4-BE49-F238E27FC236}">
                <a16:creationId xmlns:a16="http://schemas.microsoft.com/office/drawing/2014/main" id="{5202A3A5-1F55-E88B-A8E4-FEAF67E46E9D}"/>
              </a:ext>
            </a:extLst>
          </p:cNvPr>
          <p:cNvSpPr>
            <a:spLocks noChangeArrowheads="1"/>
          </p:cNvSpPr>
          <p:nvPr/>
        </p:nvSpPr>
        <p:spPr bwMode="auto">
          <a:xfrm>
            <a:off x="564259" y="1202993"/>
            <a:ext cx="1117365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Incorporate additional maternal health data sources such as real-time hospital records, wearable health devices, and mobile health apps.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 prediction algorithms using advanced machine learning techniques to identify risk factors and recommend targeted interventions.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Expand system to cover multiple states/regions for comparative analysis and resource allocation.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emerging technologies such as IoT-enabled maternal monitoring systems and AI-based health risk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real-time alerts for high-risk pregnancies to reduce maternal mortality.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801325" y="1158092"/>
            <a:ext cx="11029615" cy="4673324"/>
          </a:xfrm>
        </p:spPr>
        <p:txBody>
          <a:bodyPr>
            <a:normAutofit/>
          </a:bodyPr>
          <a:lstStyle/>
          <a:p>
            <a:pPr marL="305435" indent="-305435"/>
            <a:r>
              <a:rPr lang="en-GB" sz="2400" dirty="0"/>
              <a:t>List and cite relevant sources, research papers, and articles that were instrumental in developing the proposed solution. This could include academic papers on maternal health prediction, machine learning algorithms, and best practices in healthcare data analysis.</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151</TotalTime>
  <Words>686</Words>
  <Application>Microsoft Office PowerPoint</Application>
  <PresentationFormat>Widescreen</PresentationFormat>
  <Paragraphs>79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Franklin Gothic Book</vt:lpstr>
      <vt:lpstr>Franklin Gothic Demi</vt:lpstr>
      <vt:lpstr>Wingdings 2</vt:lpstr>
      <vt:lpstr>DividendVTI</vt:lpstr>
      <vt:lpstr>Improved SOURCE OF DRINKING WATER</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PowerPoint Presentation</vt:lpstr>
      <vt:lpstr>Conclusion</vt:lpstr>
      <vt:lpstr>Github</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Harsh Kunal</cp:lastModifiedBy>
  <cp:revision>47</cp:revision>
  <dcterms:created xsi:type="dcterms:W3CDTF">2021-05-26T16:50:10Z</dcterms:created>
  <dcterms:modified xsi:type="dcterms:W3CDTF">2026-02-07T07:10:18Z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